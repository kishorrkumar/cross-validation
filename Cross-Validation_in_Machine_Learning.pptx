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103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88654" y="1000194"/>
            <a:ext cx="5252442" cy="2018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945779" y="1562333"/>
            <a:ext cx="57150" cy="2018807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2260104" y="2088096"/>
            <a:ext cx="490954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-2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CROSS-VALIDATION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2288679" y="3207864"/>
            <a:ext cx="4909542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</a:rPr>
              <a:t>A smart approach for preventing Overfitting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60104" y="3307891"/>
            <a:ext cx="490954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TO CROSS-VALIDATION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66267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 IS IT?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94892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1170" y="1937742"/>
            <a:ext cx="363795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technique to assess model generalization to unseen data.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29235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1170" y="2572085"/>
            <a:ext cx="363795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overfitting by systematic performance evaluation.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714875" y="1566267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WHY IS IT IMPORTANT?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994892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50619" y="1937742"/>
            <a:ext cx="362188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reliable performance estimate beyond single splits.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629235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50619" y="2572085"/>
            <a:ext cx="362188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for hyperparameter tuning and model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CORE IDEA OF CROSS-VALIDATION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200150" y="1580555"/>
            <a:ext cx="742950" cy="742950"/>
          </a:xfrm>
          <a:prstGeom prst="rect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794867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509242"/>
            <a:ext cx="17145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14375" y="2762845"/>
            <a:ext cx="1714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14375" y="3059311"/>
            <a:ext cx="17145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the dataset into multiple systematic subsets.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888" y="1866305"/>
            <a:ext cx="150019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0" y="1580555"/>
            <a:ext cx="742950" cy="742950"/>
          </a:xfrm>
          <a:prstGeom prst="rect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794867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14625" y="2509242"/>
            <a:ext cx="17145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2714625" y="2762845"/>
            <a:ext cx="1714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Train &amp; Test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2714625" y="3059311"/>
            <a:ext cx="17145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on a portion and evaluate on the remaining data.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1866305"/>
            <a:ext cx="150019" cy="1714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00650" y="1580555"/>
            <a:ext cx="742950" cy="742950"/>
          </a:xfrm>
          <a:prstGeom prst="rect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0" y="1794867"/>
            <a:ext cx="285750" cy="285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14875" y="2509242"/>
            <a:ext cx="17145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3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4714875" y="2762845"/>
            <a:ext cx="1714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Repeat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714875" y="3059311"/>
            <a:ext cx="1714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the process with different data splits.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388" y="1866305"/>
            <a:ext cx="150019" cy="1714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200900" y="1580555"/>
            <a:ext cx="742950" cy="742950"/>
          </a:xfrm>
          <a:prstGeom prst="rect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219" y="1794867"/>
            <a:ext cx="214313" cy="2857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715125" y="2509242"/>
            <a:ext cx="17145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4</a:t>
            </a:r>
            <a:endParaRPr lang="en-US" sz="1050" dirty="0"/>
          </a:p>
        </p:txBody>
      </p:sp>
      <p:sp>
        <p:nvSpPr>
          <p:cNvPr id="25" name="Text 15"/>
          <p:cNvSpPr/>
          <p:nvPr/>
        </p:nvSpPr>
        <p:spPr>
          <a:xfrm>
            <a:off x="6715125" y="2762845"/>
            <a:ext cx="1714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Average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6715125" y="3059311"/>
            <a:ext cx="1714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all metrics for a final performance score.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TYPES OF CROSS-VALIDATION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54646"/>
            <a:ext cx="428625" cy="42862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03" y="1583234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719" y="1451967"/>
            <a:ext cx="15573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Holdout Method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78719" y="1730573"/>
            <a:ext cx="15573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SPLIT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14875" y="1454646"/>
            <a:ext cx="428625" cy="42862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1583234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2094" y="1451967"/>
            <a:ext cx="22842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K-Fold Cross-Validation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322094" y="1730573"/>
            <a:ext cx="228421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2331541"/>
            <a:ext cx="428625" cy="42862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2460129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8719" y="2328863"/>
            <a:ext cx="159305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Repeated K-Fold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78719" y="2607469"/>
            <a:ext cx="15930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ESTIMATION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714875" y="2331541"/>
            <a:ext cx="428625" cy="42862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463" y="2460129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2094" y="2328863"/>
            <a:ext cx="156626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Stratified K-Fold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322094" y="2607469"/>
            <a:ext cx="156626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BALANCED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571500" y="3208437"/>
            <a:ext cx="428625" cy="42862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56" y="3337024"/>
            <a:ext cx="214313" cy="1714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78719" y="3205758"/>
            <a:ext cx="24110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Leave-One-Out (LOOCV)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78719" y="3484364"/>
            <a:ext cx="24110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K-FOLD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HOLDOUT METHOD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80542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simplest form of cross-validation that divides the dataset into a single training set and a single test set (e.g., 80/20 split).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2809280"/>
            <a:ext cx="378618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43263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7244" y="3207544"/>
            <a:ext cx="25128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implement and understand.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9019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244" y="3543300"/>
            <a:ext cx="3550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Computationally inexpensive; only one training cycle.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43375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7244" y="4107656"/>
            <a:ext cx="2580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execution for very large datasets.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786313" y="2809280"/>
            <a:ext cx="378618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DISADVANTAGES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243263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2056" y="3207544"/>
            <a:ext cx="3362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variance: results depend heavily on the split.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579019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2056" y="3543300"/>
            <a:ext cx="3550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inefficient: part of the data is never used for training.</a:t>
            </a:r>
            <a:endParaRPr lang="en-US" sz="10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4143375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22056" y="4107656"/>
            <a:ext cx="29485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for biased performance estimates.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71537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K-FOLD CROSS-VALIDATION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353741"/>
            <a:ext cx="44148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GOLD STANDARD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96641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363" y="1668066"/>
            <a:ext cx="11930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Divides dataset into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807369" y="1668066"/>
            <a:ext cx="12037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 equal-sized folds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011091" y="1668066"/>
            <a:ext cx="10751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(typically 5 or 10).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960959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4363" y="1932384"/>
            <a:ext cx="37504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Iterates K times: each fold serves as the test set exactly once.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225278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363" y="2196703"/>
            <a:ext cx="146982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performance is the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2084189" y="2196703"/>
            <a:ext cx="50184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average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2586038" y="2196703"/>
            <a:ext cx="10483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all K iterations.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28625" y="3003947"/>
            <a:ext cx="21359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ADVANTAGES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346847"/>
            <a:ext cx="100013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4363" y="3318272"/>
            <a:ext cx="166628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bias and variance.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611166"/>
            <a:ext cx="100013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4363" y="3582591"/>
            <a:ext cx="15091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all data for training.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2707481" y="3003947"/>
            <a:ext cx="21359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DISADVANTAGES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7481" y="3346847"/>
            <a:ext cx="100013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893219" y="3318272"/>
            <a:ext cx="15126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computational cost.</a:t>
            </a:r>
            <a:endParaRPr lang="en-US" sz="9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7481" y="3611166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2893219" y="3582591"/>
            <a:ext cx="15466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Slower for large datasets.</a:t>
            </a:r>
            <a:endParaRPr lang="en-US" sz="9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9213" y="1168003"/>
            <a:ext cx="3586163" cy="28717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K-FOLD CROSS-VALIDATION: VISUAL WORKFLOW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23367"/>
            <a:ext cx="5029200" cy="3600450"/>
          </a:xfrm>
          <a:prstGeom prst="rect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9207"/>
            <a:ext cx="5000625" cy="29001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0" y="1694855"/>
            <a:ext cx="2857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3E3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5-FOLD PROCESS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069902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5025" y="2027039"/>
            <a:ext cx="7555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Splitting: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670532" y="2027039"/>
            <a:ext cx="19019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is divided into 5 equal folds.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605683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5025" y="2562820"/>
            <a:ext cx="6197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Iteration: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534745" y="2562820"/>
            <a:ext cx="203775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rounds of training and testing.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3141464"/>
            <a:ext cx="114300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15025" y="3098602"/>
            <a:ext cx="7322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Validation: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6647259" y="3098602"/>
            <a:ext cx="19252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fold serves as the test set exactly once.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3677245"/>
            <a:ext cx="114300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15025" y="3634383"/>
            <a:ext cx="5821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Final Score: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6497185" y="3634383"/>
            <a:ext cx="207531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are averaged for a robust estimate.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REPEATED K-FOLD CROSS-VALIDATION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51992"/>
            <a:ext cx="45434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ENHANCING ROBUSTNESS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80617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7244" y="2037755"/>
            <a:ext cx="785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Definition: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593056" y="2037755"/>
            <a:ext cx="35218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Repeats the K-Fold procedure multiple times with different randomizations.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8069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244" y="2637830"/>
            <a:ext cx="68937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Working: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496616" y="2637830"/>
            <a:ext cx="101139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K-Fold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2508014" y="2637830"/>
            <a:ext cx="72687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n_repeats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234891" y="2637830"/>
            <a:ext cx="188003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 and averages all results.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80767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7244" y="3237905"/>
            <a:ext cx="8786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685925" y="3237905"/>
            <a:ext cx="3429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more stable estimate by reducing the impact of a single random split.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80842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7244" y="3837980"/>
            <a:ext cx="57881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Trade-off: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386055" y="3837980"/>
            <a:ext cx="372887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Computationally expensive; time increases linearly with repetitions.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543550" y="1223367"/>
            <a:ext cx="3028950" cy="32146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0" name="Shape 13"/>
          <p:cNvSpPr/>
          <p:nvPr/>
        </p:nvSpPr>
        <p:spPr>
          <a:xfrm>
            <a:off x="5543550" y="1223367"/>
            <a:ext cx="3028950" cy="142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4"/>
          <p:cNvSpPr/>
          <p:nvPr/>
        </p:nvSpPr>
        <p:spPr>
          <a:xfrm>
            <a:off x="6752630" y="2076152"/>
            <a:ext cx="6107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REPETITION 1</a:t>
            </a:r>
            <a:endParaRPr lang="en-US" sz="7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256" y="2363688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36556" y="2352973"/>
            <a:ext cx="7572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Split A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6745486" y="2604790"/>
            <a:ext cx="6250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REPETITION 2</a:t>
            </a:r>
            <a:endParaRPr lang="en-US" sz="7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042" y="2892326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738342" y="2881610"/>
            <a:ext cx="7536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Split B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6741021" y="3133427"/>
            <a:ext cx="6340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REPETITION N</a:t>
            </a:r>
            <a:endParaRPr lang="en-US" sz="7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5828" y="3420963"/>
            <a:ext cx="114300" cy="1143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40128" y="3410248"/>
            <a:ext cx="7500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Split Z</a:t>
            </a:r>
            <a:endParaRPr lang="en-US" sz="8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770" y="3744218"/>
            <a:ext cx="100013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542782" y="3733502"/>
            <a:ext cx="113049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Final Average Score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STRATIFIED K-FOLD CROSS-VALIDATION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51992"/>
            <a:ext cx="45434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HANDLING IMBALANCED DATA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80617"/>
            <a:ext cx="16073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9391" y="2037755"/>
            <a:ext cx="785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Definition: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625203" y="2037755"/>
            <a:ext cx="34897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variation of K-Fold that ensures each fold preserves the original class distribution.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80692"/>
            <a:ext cx="96441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5097" y="2637830"/>
            <a:ext cx="68937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Working: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464469" y="2637830"/>
            <a:ext cx="36504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Samples are selected such that the percentage of each target class is consistent across all folds.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80767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7244" y="3237905"/>
            <a:ext cx="8786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1685925" y="3237905"/>
            <a:ext cx="342900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for classification tasks with imbalanced datasets to prevent biased evaluation.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16586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7244" y="4073723"/>
            <a:ext cx="7983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Limitation: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605558" y="4073723"/>
            <a:ext cx="350936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designed for classification; not directly applicable to regression problems.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543550" y="1223367"/>
            <a:ext cx="3028950" cy="3450431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8" name="Shape 11"/>
          <p:cNvSpPr/>
          <p:nvPr/>
        </p:nvSpPr>
        <p:spPr>
          <a:xfrm>
            <a:off x="5543550" y="1223367"/>
            <a:ext cx="3028950" cy="142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2"/>
          <p:cNvSpPr/>
          <p:nvPr/>
        </p:nvSpPr>
        <p:spPr>
          <a:xfrm>
            <a:off x="6283821" y="2055614"/>
            <a:ext cx="154840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EC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ORIGINAL DATASET DISTRIBUTION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5915025" y="2475309"/>
            <a:ext cx="2286000" cy="14108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Class A | 30% Class B</a:t>
            </a:r>
            <a:endParaRPr lang="en-US" sz="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163" y="2766417"/>
            <a:ext cx="85725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32947" y="2987873"/>
            <a:ext cx="1250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EC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FOLD 1 (PRESERVED RATIO)</a:t>
            </a:r>
            <a:endParaRPr lang="en-US" sz="750" dirty="0"/>
          </a:p>
        </p:txBody>
      </p:sp>
      <p:sp>
        <p:nvSpPr>
          <p:cNvPr id="23" name="Text 15"/>
          <p:cNvSpPr/>
          <p:nvPr/>
        </p:nvSpPr>
        <p:spPr>
          <a:xfrm>
            <a:off x="6425803" y="3557588"/>
            <a:ext cx="12644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EC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FOLD 2 (PRESERVED RATIO)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182C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REFERENCES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80555"/>
            <a:ext cx="8001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E53E3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TAKEAWAYS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02036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7244" y="1966317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Cross-validation is essential for building robust models that generalize well to unseen data.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2002036"/>
            <a:ext cx="16073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47047" y="1966317"/>
            <a:ext cx="36254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techniques offer unique trade-offs between bias, variance, and computational cost.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16398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7244" y="2580680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remains the industry standard, while Stratified K-Fold is critical for imbalanced classes.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2616398"/>
            <a:ext cx="96441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82753" y="2580680"/>
            <a:ext cx="36897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choose your validation strategy based on dataset size and specific problem constraints.</a:t>
            </a:r>
            <a:endParaRPr lang="en-US" sz="1050" dirty="0"/>
          </a:p>
        </p:txBody>
      </p:sp>
      <p:sp>
        <p:nvSpPr>
          <p:cNvPr id="13" name="Text 6"/>
          <p:cNvSpPr/>
          <p:nvPr/>
        </p:nvSpPr>
        <p:spPr>
          <a:xfrm>
            <a:off x="571500" y="3423642"/>
            <a:ext cx="80010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571500" y="3695105"/>
            <a:ext cx="65" cy="136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571500" y="3926551"/>
            <a:ext cx="65" cy="136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4714875" y="3926551"/>
            <a:ext cx="65" cy="136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571500" y="4157997"/>
            <a:ext cx="65" cy="136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4714875" y="4157997"/>
            <a:ext cx="65" cy="136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570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Inter</vt:lpstr>
      <vt:lpstr>Inter SemiBold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Kishor kumar R</cp:lastModifiedBy>
  <cp:revision>2</cp:revision>
  <dcterms:created xsi:type="dcterms:W3CDTF">2026-06-09T19:42:14Z</dcterms:created>
  <dcterms:modified xsi:type="dcterms:W3CDTF">2026-06-09T20:03:28Z</dcterms:modified>
</cp:coreProperties>
</file>